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_rels/presentation.xml.rels" ContentType="application/vnd.openxmlformats-package.relationships+xml"/>
  <Override PartName="/ppt/media/image1.png" ContentType="image/png"/>
  <Override PartName="/ppt/media/image2.jpeg" ContentType="image/jpeg"/>
  <Override PartName="/ppt/media/image4.png" ContentType="image/png"/>
  <Override PartName="/ppt/media/image3.png" ContentType="image/png"/>
  <Override PartName="/ppt/media/image5.png" ContentType="image/png"/>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CD9FA01-FD1A-429E-BD90-E8F7BB5A58F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F529DEB6-76D6-4B9E-B2FF-94080B084E8F}"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417FBFCC-F760-4176-A1F2-7E0D4F1B32BA}"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8D5E7F03-19F8-4498-876F-AC0361F524EE}"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tête de section">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46DDDA14-EA4B-4D38-ABE1-C2F8EA694030}"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3E8AAA69-DED6-400C-ABEC-15DF26D1C5F7}"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FB5C1FB4-0E94-4A07-94AF-8D647DF10556}"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5A3EDD90-941A-4CF9-B608-80CE180B6978}"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spTree>
      <p:nvGrpSpPr>
        <p:cNvPr id="1" name=""/>
        <p:cNvGrpSpPr/>
        <p:nvPr/>
      </p:nvGrpSpPr>
      <p:grpSpPr>
        <a:xfrm>
          <a:off x="0" y="0"/>
          <a:ext cx="0" cy="0"/>
          <a:chOff x="0" y="0"/>
          <a:chExt cx="0" cy="0"/>
        </a:xfrm>
      </p:grpSpPr>
      <p:sp>
        <p:nvSpPr>
          <p:cNvPr id="2" name="PlaceHolder 1"/>
          <p:cNvSpPr>
            <a:spLocks noGrp="1"/>
          </p:cNvSpPr>
          <p:nvPr>
            <p:ph type="sldNum" idx="25"/>
          </p:nvPr>
        </p:nvSpPr>
        <p:spPr/>
        <p:txBody>
          <a:bodyPr/>
          <a:p>
            <a:fld id="{F476001F-BF38-4C4E-8875-545D76D1A63D}"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D8F87E81-7AD3-4AD0-925D-479A1E431ED3}"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CAD08E87-10D1-4CE3-B712-B746B7AD83C2}"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1" name="Image 5" descr=""/>
          <p:cNvPicPr/>
          <p:nvPr/>
        </p:nvPicPr>
        <p:blipFill>
          <a:blip r:embed="rId2"/>
          <a:stretch/>
        </p:blipFill>
        <p:spPr>
          <a:xfrm>
            <a:off x="0" y="7560"/>
            <a:ext cx="9142200" cy="5126760"/>
          </a:xfrm>
          <a:prstGeom prst="rect">
            <a:avLst/>
          </a:prstGeom>
          <a:ln w="0">
            <a:noFill/>
          </a:ln>
        </p:spPr>
      </p:pic>
      <p:pic>
        <p:nvPicPr>
          <p:cNvPr id="2" name="Image 8" descr=""/>
          <p:cNvPicPr/>
          <p:nvPr/>
        </p:nvPicPr>
        <p:blipFill>
          <a:blip r:embed="rId3"/>
          <a:stretch/>
        </p:blipFill>
        <p:spPr>
          <a:xfrm>
            <a:off x="9720" y="-3240"/>
            <a:ext cx="1278720" cy="366840"/>
          </a:xfrm>
          <a:prstGeom prst="rect">
            <a:avLst/>
          </a:prstGeom>
          <a:ln w="0">
            <a:noFill/>
          </a:ln>
        </p:spPr>
      </p:pic>
      <p:sp>
        <p:nvSpPr>
          <p:cNvPr id="3"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 name="PlaceHolder 2"/>
          <p:cNvSpPr>
            <a:spLocks noGrp="1"/>
          </p:cNvSpPr>
          <p:nvPr>
            <p:ph type="ftr" idx="1"/>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 name="PlaceHolder 3"/>
          <p:cNvSpPr>
            <a:spLocks noGrp="1"/>
          </p:cNvSpPr>
          <p:nvPr>
            <p:ph type="sldNum" idx="2"/>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FB5F91BC-CDF4-4E36-A8FA-42A47BEC2FB6}"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6" name="PlaceHolder 4"/>
          <p:cNvSpPr>
            <a:spLocks noGrp="1"/>
          </p:cNvSpPr>
          <p:nvPr>
            <p:ph type="dt" idx="3"/>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10" name="Image 5" descr=""/>
          <p:cNvPicPr/>
          <p:nvPr/>
        </p:nvPicPr>
        <p:blipFill>
          <a:blip r:embed="rId2"/>
          <a:stretch/>
        </p:blipFill>
        <p:spPr>
          <a:xfrm>
            <a:off x="0" y="7560"/>
            <a:ext cx="9142200" cy="5126760"/>
          </a:xfrm>
          <a:prstGeom prst="rect">
            <a:avLst/>
          </a:prstGeom>
          <a:ln w="0">
            <a:noFill/>
          </a:ln>
        </p:spPr>
      </p:pic>
      <p:pic>
        <p:nvPicPr>
          <p:cNvPr id="11" name="Image 8" descr=""/>
          <p:cNvPicPr/>
          <p:nvPr/>
        </p:nvPicPr>
        <p:blipFill>
          <a:blip r:embed="rId3"/>
          <a:stretch/>
        </p:blipFill>
        <p:spPr>
          <a:xfrm>
            <a:off x="9720" y="-3240"/>
            <a:ext cx="1278720" cy="366840"/>
          </a:xfrm>
          <a:prstGeom prst="rect">
            <a:avLst/>
          </a:prstGeom>
          <a:ln w="0">
            <a:noFill/>
          </a:ln>
        </p:spPr>
      </p:pic>
      <p:sp>
        <p:nvSpPr>
          <p:cNvPr id="12" name="PlaceHolder 1"/>
          <p:cNvSpPr>
            <a:spLocks noGrp="1"/>
          </p:cNvSpPr>
          <p:nvPr>
            <p:ph type="ftr" idx="4"/>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 name="PlaceHolder 2"/>
          <p:cNvSpPr>
            <a:spLocks noGrp="1"/>
          </p:cNvSpPr>
          <p:nvPr>
            <p:ph type="sldNum" idx="5"/>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F9A42160-9640-4C35-87C2-061A54F6CBCF}"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14" name="PlaceHolder 3"/>
          <p:cNvSpPr>
            <a:spLocks noGrp="1"/>
          </p:cNvSpPr>
          <p:nvPr>
            <p:ph type="dt" idx="6"/>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16" name="Image 5" descr=""/>
          <p:cNvPicPr/>
          <p:nvPr/>
        </p:nvPicPr>
        <p:blipFill>
          <a:blip r:embed="rId2"/>
          <a:stretch/>
        </p:blipFill>
        <p:spPr>
          <a:xfrm>
            <a:off x="0" y="7560"/>
            <a:ext cx="9142200" cy="5126760"/>
          </a:xfrm>
          <a:prstGeom prst="rect">
            <a:avLst/>
          </a:prstGeom>
          <a:ln w="0">
            <a:noFill/>
          </a:ln>
        </p:spPr>
      </p:pic>
      <p:pic>
        <p:nvPicPr>
          <p:cNvPr id="17" name="Image 8" descr=""/>
          <p:cNvPicPr/>
          <p:nvPr/>
        </p:nvPicPr>
        <p:blipFill>
          <a:blip r:embed="rId3"/>
          <a:stretch/>
        </p:blipFill>
        <p:spPr>
          <a:xfrm>
            <a:off x="9720" y="-3240"/>
            <a:ext cx="1278720" cy="366840"/>
          </a:xfrm>
          <a:prstGeom prst="rect">
            <a:avLst/>
          </a:prstGeom>
          <a:ln w="0">
            <a:noFill/>
          </a:ln>
        </p:spPr>
      </p:pic>
      <p:sp>
        <p:nvSpPr>
          <p:cNvPr id="18" name="PlaceHolder 1"/>
          <p:cNvSpPr>
            <a:spLocks noGrp="1"/>
          </p:cNvSpPr>
          <p:nvPr>
            <p:ph type="ftr" idx="7"/>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2"/>
          <p:cNvSpPr>
            <a:spLocks noGrp="1"/>
          </p:cNvSpPr>
          <p:nvPr>
            <p:ph type="sldNum" idx="8"/>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F1EF5B34-7259-40EF-B22D-59881A039CB5}"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20" name="PlaceHolder 3"/>
          <p:cNvSpPr>
            <a:spLocks noGrp="1"/>
          </p:cNvSpPr>
          <p:nvPr>
            <p:ph type="dt" idx="9"/>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22" name="Image 5" descr=""/>
          <p:cNvPicPr/>
          <p:nvPr/>
        </p:nvPicPr>
        <p:blipFill>
          <a:blip r:embed="rId2"/>
          <a:stretch/>
        </p:blipFill>
        <p:spPr>
          <a:xfrm>
            <a:off x="0" y="7560"/>
            <a:ext cx="9142200" cy="5126760"/>
          </a:xfrm>
          <a:prstGeom prst="rect">
            <a:avLst/>
          </a:prstGeom>
          <a:ln w="0">
            <a:noFill/>
          </a:ln>
        </p:spPr>
      </p:pic>
      <p:pic>
        <p:nvPicPr>
          <p:cNvPr id="23" name="Image 8" descr=""/>
          <p:cNvPicPr/>
          <p:nvPr/>
        </p:nvPicPr>
        <p:blipFill>
          <a:blip r:embed="rId3"/>
          <a:stretch/>
        </p:blipFill>
        <p:spPr>
          <a:xfrm>
            <a:off x="9720" y="-3240"/>
            <a:ext cx="1278720" cy="366840"/>
          </a:xfrm>
          <a:prstGeom prst="rect">
            <a:avLst/>
          </a:prstGeom>
          <a:ln w="0">
            <a:noFill/>
          </a:ln>
        </p:spPr>
      </p:pic>
      <p:sp>
        <p:nvSpPr>
          <p:cNvPr id="24"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 name="PlaceHolder 3"/>
          <p:cNvSpPr>
            <a:spLocks noGrp="1"/>
          </p:cNvSpPr>
          <p:nvPr>
            <p:ph type="ftr" idx="10"/>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4"/>
          <p:cNvSpPr>
            <a:spLocks noGrp="1"/>
          </p:cNvSpPr>
          <p:nvPr>
            <p:ph type="sldNum" idx="11"/>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E7D76EDA-8DF0-4377-954A-3251D426CFA1}"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28" name="PlaceHolder 5"/>
          <p:cNvSpPr>
            <a:spLocks noGrp="1"/>
          </p:cNvSpPr>
          <p:nvPr>
            <p:ph type="dt" idx="12"/>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1"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32" name="Image 5" descr=""/>
          <p:cNvPicPr/>
          <p:nvPr/>
        </p:nvPicPr>
        <p:blipFill>
          <a:blip r:embed="rId2"/>
          <a:stretch/>
        </p:blipFill>
        <p:spPr>
          <a:xfrm>
            <a:off x="0" y="7560"/>
            <a:ext cx="9142200" cy="5126760"/>
          </a:xfrm>
          <a:prstGeom prst="rect">
            <a:avLst/>
          </a:prstGeom>
          <a:ln w="0">
            <a:noFill/>
          </a:ln>
        </p:spPr>
      </p:pic>
      <p:pic>
        <p:nvPicPr>
          <p:cNvPr id="33" name="Image 8" descr=""/>
          <p:cNvPicPr/>
          <p:nvPr/>
        </p:nvPicPr>
        <p:blipFill>
          <a:blip r:embed="rId3"/>
          <a:stretch/>
        </p:blipFill>
        <p:spPr>
          <a:xfrm>
            <a:off x="9720" y="-3240"/>
            <a:ext cx="1278720" cy="366840"/>
          </a:xfrm>
          <a:prstGeom prst="rect">
            <a:avLst/>
          </a:prstGeom>
          <a:ln w="0">
            <a:noFill/>
          </a:ln>
        </p:spPr>
      </p:pic>
      <p:sp>
        <p:nvSpPr>
          <p:cNvPr id="34" name="PlaceHolder 1"/>
          <p:cNvSpPr>
            <a:spLocks noGrp="1"/>
          </p:cNvSpPr>
          <p:nvPr>
            <p:ph type="ftr" idx="13"/>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5" name="PlaceHolder 2"/>
          <p:cNvSpPr>
            <a:spLocks noGrp="1"/>
          </p:cNvSpPr>
          <p:nvPr>
            <p:ph type="sldNum" idx="14"/>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A60A85EC-3E6B-4B7C-9E37-E153B108B49D}"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36" name="PlaceHolder 3"/>
          <p:cNvSpPr>
            <a:spLocks noGrp="1"/>
          </p:cNvSpPr>
          <p:nvPr>
            <p:ph type="dt" idx="15"/>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7"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38" name="Image 5" descr=""/>
          <p:cNvPicPr/>
          <p:nvPr/>
        </p:nvPicPr>
        <p:blipFill>
          <a:blip r:embed="rId2"/>
          <a:stretch/>
        </p:blipFill>
        <p:spPr>
          <a:xfrm>
            <a:off x="0" y="7560"/>
            <a:ext cx="9142200" cy="5126760"/>
          </a:xfrm>
          <a:prstGeom prst="rect">
            <a:avLst/>
          </a:prstGeom>
          <a:ln w="0">
            <a:noFill/>
          </a:ln>
        </p:spPr>
      </p:pic>
      <p:pic>
        <p:nvPicPr>
          <p:cNvPr id="39" name="Image 8" descr=""/>
          <p:cNvPicPr/>
          <p:nvPr/>
        </p:nvPicPr>
        <p:blipFill>
          <a:blip r:embed="rId3"/>
          <a:stretch/>
        </p:blipFill>
        <p:spPr>
          <a:xfrm>
            <a:off x="9720" y="-3240"/>
            <a:ext cx="1278720" cy="366840"/>
          </a:xfrm>
          <a:prstGeom prst="rect">
            <a:avLst/>
          </a:prstGeom>
          <a:ln w="0">
            <a:noFill/>
          </a:ln>
        </p:spPr>
      </p:pic>
      <p:sp>
        <p:nvSpPr>
          <p:cNvPr id="4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1"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 name="PlaceHolder 4"/>
          <p:cNvSpPr>
            <a:spLocks noGrp="1"/>
          </p:cNvSpPr>
          <p:nvPr>
            <p:ph type="ftr" idx="16"/>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5"/>
          <p:cNvSpPr>
            <a:spLocks noGrp="1"/>
          </p:cNvSpPr>
          <p:nvPr>
            <p:ph type="sldNum" idx="17"/>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95E7B129-ADF0-4DB3-988A-9813F5F94F61}"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45" name="PlaceHolder 6"/>
          <p:cNvSpPr>
            <a:spLocks noGrp="1"/>
          </p:cNvSpPr>
          <p:nvPr>
            <p:ph type="dt" idx="18"/>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9"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50" name="Image 5" descr=""/>
          <p:cNvPicPr/>
          <p:nvPr/>
        </p:nvPicPr>
        <p:blipFill>
          <a:blip r:embed="rId2"/>
          <a:stretch/>
        </p:blipFill>
        <p:spPr>
          <a:xfrm>
            <a:off x="0" y="7560"/>
            <a:ext cx="9142200" cy="5126760"/>
          </a:xfrm>
          <a:prstGeom prst="rect">
            <a:avLst/>
          </a:prstGeom>
          <a:ln w="0">
            <a:noFill/>
          </a:ln>
        </p:spPr>
      </p:pic>
      <p:pic>
        <p:nvPicPr>
          <p:cNvPr id="51" name="Image 8" descr=""/>
          <p:cNvPicPr/>
          <p:nvPr/>
        </p:nvPicPr>
        <p:blipFill>
          <a:blip r:embed="rId3"/>
          <a:stretch/>
        </p:blipFill>
        <p:spPr>
          <a:xfrm>
            <a:off x="9720" y="-3240"/>
            <a:ext cx="1278720" cy="366840"/>
          </a:xfrm>
          <a:prstGeom prst="rect">
            <a:avLst/>
          </a:prstGeom>
          <a:ln w="0">
            <a:noFill/>
          </a:ln>
        </p:spPr>
      </p:pic>
      <p:sp>
        <p:nvSpPr>
          <p:cNvPr id="52" name="PlaceHolder 1"/>
          <p:cNvSpPr>
            <a:spLocks noGrp="1"/>
          </p:cNvSpPr>
          <p:nvPr>
            <p:ph type="ftr" idx="19"/>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2"/>
          <p:cNvSpPr>
            <a:spLocks noGrp="1"/>
          </p:cNvSpPr>
          <p:nvPr>
            <p:ph type="sldNum" idx="20"/>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86812D8E-E0BA-41D9-8BDB-E6FA587A75A4}"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54" name="PlaceHolder 3"/>
          <p:cNvSpPr>
            <a:spLocks noGrp="1"/>
          </p:cNvSpPr>
          <p:nvPr>
            <p:ph type="dt" idx="21"/>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5"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56" name="Image 5" descr=""/>
          <p:cNvPicPr/>
          <p:nvPr/>
        </p:nvPicPr>
        <p:blipFill>
          <a:blip r:embed="rId2"/>
          <a:stretch/>
        </p:blipFill>
        <p:spPr>
          <a:xfrm>
            <a:off x="0" y="7560"/>
            <a:ext cx="9142200" cy="5126760"/>
          </a:xfrm>
          <a:prstGeom prst="rect">
            <a:avLst/>
          </a:prstGeom>
          <a:ln w="0">
            <a:noFill/>
          </a:ln>
        </p:spPr>
      </p:pic>
      <p:pic>
        <p:nvPicPr>
          <p:cNvPr id="57" name="Image 8" descr=""/>
          <p:cNvPicPr/>
          <p:nvPr/>
        </p:nvPicPr>
        <p:blipFill>
          <a:blip r:embed="rId3"/>
          <a:stretch/>
        </p:blipFill>
        <p:spPr>
          <a:xfrm>
            <a:off x="9720" y="-3240"/>
            <a:ext cx="1278720" cy="366840"/>
          </a:xfrm>
          <a:prstGeom prst="rect">
            <a:avLst/>
          </a:prstGeom>
          <a:ln w="0">
            <a:noFill/>
          </a:ln>
        </p:spPr>
      </p:pic>
      <p:sp>
        <p:nvSpPr>
          <p:cNvPr id="58"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9" name="PlaceHolder 2"/>
          <p:cNvSpPr>
            <a:spLocks noGrp="1"/>
          </p:cNvSpPr>
          <p:nvPr>
            <p:ph type="ftr" idx="22"/>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3"/>
          <p:cNvSpPr>
            <a:spLocks noGrp="1"/>
          </p:cNvSpPr>
          <p:nvPr>
            <p:ph type="sldNum" idx="23"/>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99413F1A-4AD0-41B3-BE60-BB5F6FFBCD56}"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61" name="PlaceHolder 4"/>
          <p:cNvSpPr>
            <a:spLocks noGrp="1"/>
          </p:cNvSpPr>
          <p:nvPr>
            <p:ph type="dt" idx="24"/>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64" name="Image 5" descr=""/>
          <p:cNvPicPr/>
          <p:nvPr/>
        </p:nvPicPr>
        <p:blipFill>
          <a:blip r:embed="rId2"/>
          <a:stretch/>
        </p:blipFill>
        <p:spPr>
          <a:xfrm>
            <a:off x="0" y="7560"/>
            <a:ext cx="9142200" cy="5126760"/>
          </a:xfrm>
          <a:prstGeom prst="rect">
            <a:avLst/>
          </a:prstGeom>
          <a:ln w="0">
            <a:noFill/>
          </a:ln>
        </p:spPr>
      </p:pic>
      <p:pic>
        <p:nvPicPr>
          <p:cNvPr id="65" name="Image 8" descr=""/>
          <p:cNvPicPr/>
          <p:nvPr/>
        </p:nvPicPr>
        <p:blipFill>
          <a:blip r:embed="rId3"/>
          <a:stretch/>
        </p:blipFill>
        <p:spPr>
          <a:xfrm>
            <a:off x="9720" y="-3240"/>
            <a:ext cx="1278720" cy="366840"/>
          </a:xfrm>
          <a:prstGeom prst="rect">
            <a:avLst/>
          </a:prstGeom>
          <a:ln w="0">
            <a:noFill/>
          </a:ln>
        </p:spPr>
      </p:pic>
      <p:sp>
        <p:nvSpPr>
          <p:cNvPr id="66" name="PlaceHolder 1"/>
          <p:cNvSpPr>
            <a:spLocks noGrp="1"/>
          </p:cNvSpPr>
          <p:nvPr>
            <p:ph type="sldNum" idx="25"/>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9B0DF86C-8820-4932-9318-27A8110DA995}"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67"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9"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70" name="Image 5" descr=""/>
          <p:cNvPicPr/>
          <p:nvPr/>
        </p:nvPicPr>
        <p:blipFill>
          <a:blip r:embed="rId2"/>
          <a:stretch/>
        </p:blipFill>
        <p:spPr>
          <a:xfrm>
            <a:off x="0" y="7560"/>
            <a:ext cx="9142200" cy="5126760"/>
          </a:xfrm>
          <a:prstGeom prst="rect">
            <a:avLst/>
          </a:prstGeom>
          <a:ln w="0">
            <a:noFill/>
          </a:ln>
        </p:spPr>
      </p:pic>
      <p:pic>
        <p:nvPicPr>
          <p:cNvPr id="71" name="Image 8" descr=""/>
          <p:cNvPicPr/>
          <p:nvPr/>
        </p:nvPicPr>
        <p:blipFill>
          <a:blip r:embed="rId3"/>
          <a:stretch/>
        </p:blipFill>
        <p:spPr>
          <a:xfrm>
            <a:off x="9720" y="-3240"/>
            <a:ext cx="1278720" cy="366840"/>
          </a:xfrm>
          <a:prstGeom prst="rect">
            <a:avLst/>
          </a:prstGeom>
          <a:ln w="0">
            <a:noFill/>
          </a:ln>
        </p:spPr>
      </p:pic>
      <p:sp>
        <p:nvSpPr>
          <p:cNvPr id="72" name="PlaceHolder 1"/>
          <p:cNvSpPr>
            <a:spLocks noGrp="1"/>
          </p:cNvSpPr>
          <p:nvPr>
            <p:ph type="ftr" idx="26"/>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2"/>
          <p:cNvSpPr>
            <a:spLocks noGrp="1"/>
          </p:cNvSpPr>
          <p:nvPr>
            <p:ph type="sldNum" idx="27"/>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C7391C92-7722-43C0-8931-E91B212E3DA7}"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74" name="PlaceHolder 3"/>
          <p:cNvSpPr>
            <a:spLocks noGrp="1"/>
          </p:cNvSpPr>
          <p:nvPr>
            <p:ph type="dt" idx="28"/>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5" name="Rectangle 2"/>
          <p:cNvSpPr/>
          <p:nvPr/>
        </p:nvSpPr>
        <p:spPr>
          <a:xfrm>
            <a:off x="8316360" y="4875840"/>
            <a:ext cx="646200" cy="294120"/>
          </a:xfrm>
          <a:prstGeom prst="rect">
            <a:avLst/>
          </a:prstGeom>
          <a:solidFill>
            <a:schemeClr val="bg1"/>
          </a:solidFill>
          <a:ln w="9525">
            <a:noFill/>
          </a:ln>
        </p:spPr>
        <p:style>
          <a:lnRef idx="0"/>
          <a:fillRef idx="0"/>
          <a:effectRef idx="0"/>
          <a:fontRef idx="minor"/>
        </p:style>
        <p:txBody>
          <a:bodyPr numCol="1" spcCol="0" lIns="90000" rIns="90000" tIns="45000" bIns="45000" anchor="t">
            <a:noAutofit/>
          </a:bodyPr>
          <a:p>
            <a:pPr defTabSz="914400">
              <a:lnSpc>
                <a:spcPct val="100000"/>
              </a:lnSpc>
              <a:tabLst>
                <a:tab algn="l" pos="0"/>
              </a:tabLst>
            </a:pPr>
            <a:endParaRPr b="0" lang="fr-FR" sz="2400" spc="-1" strike="noStrike">
              <a:solidFill>
                <a:schemeClr val="dk1"/>
              </a:solidFill>
              <a:latin typeface="Times New Roman"/>
            </a:endParaRPr>
          </a:p>
        </p:txBody>
      </p:sp>
      <p:pic>
        <p:nvPicPr>
          <p:cNvPr id="76" name="Image 5" descr=""/>
          <p:cNvPicPr/>
          <p:nvPr/>
        </p:nvPicPr>
        <p:blipFill>
          <a:blip r:embed="rId2"/>
          <a:stretch/>
        </p:blipFill>
        <p:spPr>
          <a:xfrm>
            <a:off x="0" y="7560"/>
            <a:ext cx="9142200" cy="5126760"/>
          </a:xfrm>
          <a:prstGeom prst="rect">
            <a:avLst/>
          </a:prstGeom>
          <a:ln w="0">
            <a:noFill/>
          </a:ln>
        </p:spPr>
      </p:pic>
      <p:pic>
        <p:nvPicPr>
          <p:cNvPr id="77" name="Image 8" descr=""/>
          <p:cNvPicPr/>
          <p:nvPr/>
        </p:nvPicPr>
        <p:blipFill>
          <a:blip r:embed="rId3"/>
          <a:stretch/>
        </p:blipFill>
        <p:spPr>
          <a:xfrm>
            <a:off x="9720" y="-3240"/>
            <a:ext cx="1278720" cy="366840"/>
          </a:xfrm>
          <a:prstGeom prst="rect">
            <a:avLst/>
          </a:prstGeom>
          <a:ln w="0">
            <a:noFill/>
          </a:ln>
        </p:spPr>
      </p:pic>
      <p:sp>
        <p:nvSpPr>
          <p:cNvPr id="78" name="PlaceHolder 1"/>
          <p:cNvSpPr>
            <a:spLocks noGrp="1"/>
          </p:cNvSpPr>
          <p:nvPr>
            <p:ph type="ftr" idx="29"/>
          </p:nvPr>
        </p:nvSpPr>
        <p:spPr>
          <a:xfrm>
            <a:off x="3124080" y="4686480"/>
            <a:ext cx="2893680" cy="341280"/>
          </a:xfrm>
          <a:prstGeom prst="rect">
            <a:avLst/>
          </a:prstGeom>
          <a:noFill/>
          <a:ln w="0">
            <a:noFill/>
          </a:ln>
        </p:spPr>
        <p:txBody>
          <a:bodyPr lIns="91440" rIns="91440" tIns="45720" bIns="4572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9" name="PlaceHolder 2"/>
          <p:cNvSpPr>
            <a:spLocks noGrp="1"/>
          </p:cNvSpPr>
          <p:nvPr>
            <p:ph type="sldNum" idx="30"/>
          </p:nvPr>
        </p:nvSpPr>
        <p:spPr>
          <a:xfrm>
            <a:off x="6553080" y="4686480"/>
            <a:ext cx="1903320" cy="341280"/>
          </a:xfrm>
          <a:prstGeom prst="rect">
            <a:avLst/>
          </a:prstGeom>
          <a:noFill/>
          <a:ln w="0">
            <a:noFill/>
          </a:ln>
        </p:spPr>
        <p:txBody>
          <a:bodyPr lIns="91440" rIns="91440" tIns="45720" bIns="45720" anchor="t">
            <a:noAutofit/>
          </a:bodyPr>
          <a:lstStyle>
            <a:lvl1pPr indent="0" defTabSz="914400">
              <a:lnSpc>
                <a:spcPct val="100000"/>
              </a:lnSpc>
              <a:buNone/>
              <a:tabLst>
                <a:tab algn="l" pos="0"/>
              </a:tabLst>
              <a:defRPr b="0" lang="fr-FR" sz="1800" spc="-1" strike="noStrike">
                <a:solidFill>
                  <a:srgbClr val="000000"/>
                </a:solidFill>
                <a:latin typeface="Times New Roman"/>
              </a:defRPr>
            </a:lvl1pPr>
          </a:lstStyle>
          <a:p>
            <a:pPr indent="0" defTabSz="914400">
              <a:lnSpc>
                <a:spcPct val="100000"/>
              </a:lnSpc>
              <a:buNone/>
              <a:tabLst>
                <a:tab algn="l" pos="0"/>
              </a:tabLst>
            </a:pPr>
            <a:fld id="{F09D6BB1-A8E6-4379-AA52-5140949B7C40}" type="slidenum">
              <a:rPr b="0" lang="fr-FR" sz="1800" spc="-1" strike="noStrike">
                <a:solidFill>
                  <a:srgbClr val="000000"/>
                </a:solidFill>
                <a:latin typeface="Times New Roman"/>
              </a:rPr>
              <a:t>&lt;number&gt;</a:t>
            </a:fld>
            <a:endParaRPr b="0" lang="en-US" sz="1800" spc="-1" strike="noStrike">
              <a:solidFill>
                <a:srgbClr val="000000"/>
              </a:solidFill>
              <a:latin typeface="Times New Roman"/>
            </a:endParaRPr>
          </a:p>
        </p:txBody>
      </p:sp>
      <p:sp>
        <p:nvSpPr>
          <p:cNvPr id="80" name="PlaceHolder 3"/>
          <p:cNvSpPr>
            <a:spLocks noGrp="1"/>
          </p:cNvSpPr>
          <p:nvPr>
            <p:ph type="dt" idx="31"/>
          </p:nvPr>
        </p:nvSpPr>
        <p:spPr>
          <a:xfrm>
            <a:off x="685800" y="4686480"/>
            <a:ext cx="1903320" cy="341280"/>
          </a:xfrm>
          <a:prstGeom prst="rect">
            <a:avLst/>
          </a:prstGeom>
          <a:noFill/>
          <a:ln w="0">
            <a:noFill/>
          </a:ln>
        </p:spPr>
        <p:txBody>
          <a:bodyPr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 descr=""/>
          <p:cNvPicPr/>
          <p:nvPr/>
        </p:nvPicPr>
        <p:blipFill>
          <a:blip r:embed="rId1"/>
          <a:stretch/>
        </p:blipFill>
        <p:spPr>
          <a:xfrm>
            <a:off x="6570000" y="0"/>
            <a:ext cx="1659600" cy="913320"/>
          </a:xfrm>
          <a:prstGeom prst="rect">
            <a:avLst/>
          </a:prstGeom>
          <a:ln w="0">
            <a:noFill/>
          </a:ln>
        </p:spPr>
      </p:pic>
      <p:pic>
        <p:nvPicPr>
          <p:cNvPr id="82" name="" descr=""/>
          <p:cNvPicPr/>
          <p:nvPr/>
        </p:nvPicPr>
        <p:blipFill>
          <a:blip r:embed="rId2"/>
          <a:stretch/>
        </p:blipFill>
        <p:spPr>
          <a:xfrm>
            <a:off x="4800600" y="3406320"/>
            <a:ext cx="4341240" cy="1736280"/>
          </a:xfrm>
          <a:prstGeom prst="rect">
            <a:avLst/>
          </a:prstGeom>
          <a:ln w="0">
            <a:noFill/>
          </a:ln>
        </p:spPr>
      </p:pic>
      <p:sp>
        <p:nvSpPr>
          <p:cNvPr id="83" name="Text Box 420"/>
          <p:cNvSpPr/>
          <p:nvPr/>
        </p:nvSpPr>
        <p:spPr>
          <a:xfrm>
            <a:off x="0" y="127800"/>
            <a:ext cx="9117360" cy="272160"/>
          </a:xfrm>
          <a:prstGeom prst="rect">
            <a:avLst/>
          </a:prstGeom>
          <a:noFill/>
          <a:ln w="0">
            <a:noFill/>
          </a:ln>
        </p:spPr>
        <p:style>
          <a:lnRef idx="0"/>
          <a:fillRef idx="0"/>
          <a:effectRef idx="0"/>
          <a:fontRef idx="minor"/>
        </p:style>
        <p:txBody>
          <a:bodyPr lIns="43920" rIns="43920" tIns="21960" bIns="21960" anchor="t">
            <a:spAutoFit/>
          </a:bodyPr>
          <a:p>
            <a:pPr algn="ctr" defTabSz="279360">
              <a:lnSpc>
                <a:spcPct val="100000"/>
              </a:lnSpc>
            </a:pPr>
            <a:r>
              <a:rPr b="1" lang="fr-FR" sz="1500" spc="-1" strike="noStrike" cap="all">
                <a:solidFill>
                  <a:schemeClr val="dk1"/>
                </a:solidFill>
                <a:latin typeface="Arial Black"/>
              </a:rPr>
              <a:t>HMM and ai integration in finance</a:t>
            </a:r>
            <a:endParaRPr b="0" lang="en-US" sz="1500" spc="-1" strike="noStrike">
              <a:solidFill>
                <a:srgbClr val="000000"/>
              </a:solidFill>
              <a:latin typeface="Arial"/>
            </a:endParaRPr>
          </a:p>
        </p:txBody>
      </p:sp>
      <p:sp>
        <p:nvSpPr>
          <p:cNvPr id="84" name="Text Box 421"/>
          <p:cNvSpPr/>
          <p:nvPr/>
        </p:nvSpPr>
        <p:spPr>
          <a:xfrm>
            <a:off x="720" y="352440"/>
            <a:ext cx="9142200" cy="272160"/>
          </a:xfrm>
          <a:prstGeom prst="rect">
            <a:avLst/>
          </a:prstGeom>
          <a:noFill/>
          <a:ln w="0">
            <a:noFill/>
          </a:ln>
        </p:spPr>
        <p:style>
          <a:lnRef idx="0"/>
          <a:fillRef idx="0"/>
          <a:effectRef idx="0"/>
          <a:fontRef idx="minor"/>
        </p:style>
        <p:txBody>
          <a:bodyPr lIns="43920" rIns="43920" tIns="21960" bIns="21960" anchor="t">
            <a:spAutoFit/>
          </a:bodyPr>
          <a:p>
            <a:pPr algn="ctr" defTabSz="279360">
              <a:lnSpc>
                <a:spcPct val="100000"/>
              </a:lnSpc>
            </a:pPr>
            <a:r>
              <a:rPr b="1" lang="fr-FR" sz="1500" spc="-1" strike="noStrike">
                <a:solidFill>
                  <a:srgbClr val="000000"/>
                </a:solidFill>
                <a:latin typeface="Arial Narrow"/>
              </a:rPr>
              <a:t>Paul Serre de Pazanan – </a:t>
            </a:r>
            <a:r>
              <a:rPr b="0" i="1" lang="en-US" sz="1500" spc="-1" strike="noStrike">
                <a:solidFill>
                  <a:schemeClr val="dk1"/>
                </a:solidFill>
                <a:latin typeface="Arial Narrow"/>
              </a:rPr>
              <a:t>Seoul</a:t>
            </a:r>
            <a:endParaRPr b="0" lang="en-US" sz="1500" spc="-1" strike="noStrike">
              <a:solidFill>
                <a:srgbClr val="000000"/>
              </a:solidFill>
              <a:latin typeface="Arial"/>
            </a:endParaRPr>
          </a:p>
        </p:txBody>
      </p:sp>
      <p:sp>
        <p:nvSpPr>
          <p:cNvPr id="85" name="Rectangle 14"/>
          <p:cNvSpPr/>
          <p:nvPr/>
        </p:nvSpPr>
        <p:spPr>
          <a:xfrm>
            <a:off x="0" y="630720"/>
            <a:ext cx="9142200" cy="316080"/>
          </a:xfrm>
          <a:prstGeom prst="rect">
            <a:avLst/>
          </a:prstGeom>
          <a:noFill/>
          <a:ln w="0">
            <a:noFill/>
          </a:ln>
        </p:spPr>
        <p:style>
          <a:lnRef idx="0"/>
          <a:fillRef idx="0"/>
          <a:effectRef idx="0"/>
          <a:fontRef idx="minor"/>
        </p:style>
        <p:txBody>
          <a:bodyPr lIns="28080" rIns="28080" tIns="14040" bIns="14040" anchor="ctr">
            <a:noAutofit/>
          </a:bodyPr>
          <a:p>
            <a:pPr algn="ctr" defTabSz="914400">
              <a:lnSpc>
                <a:spcPct val="100000"/>
              </a:lnSpc>
              <a:tabLst>
                <a:tab algn="l" pos="357120"/>
              </a:tabLst>
            </a:pPr>
            <a:r>
              <a:rPr b="1" lang="fr-FR" sz="1400" spc="-1" strike="noStrike">
                <a:solidFill>
                  <a:srgbClr val="cc0000"/>
                </a:solidFill>
                <a:latin typeface="Arial Black"/>
              </a:rPr>
              <a:t>Introduction</a:t>
            </a:r>
            <a:endParaRPr b="0" lang="en-US" sz="1400" spc="-1" strike="noStrike">
              <a:solidFill>
                <a:srgbClr val="000000"/>
              </a:solidFill>
              <a:latin typeface="Arial"/>
            </a:endParaRPr>
          </a:p>
        </p:txBody>
      </p:sp>
      <p:sp>
        <p:nvSpPr>
          <p:cNvPr id="86" name="Text Box 736"/>
          <p:cNvSpPr/>
          <p:nvPr/>
        </p:nvSpPr>
        <p:spPr>
          <a:xfrm>
            <a:off x="237600" y="973080"/>
            <a:ext cx="4105800" cy="763560"/>
          </a:xfrm>
          <a:prstGeom prst="rect">
            <a:avLst/>
          </a:prstGeom>
          <a:noFill/>
          <a:ln w="0">
            <a:noFill/>
          </a:ln>
        </p:spPr>
        <p:style>
          <a:lnRef idx="0"/>
          <a:fillRef idx="0"/>
          <a:effectRef idx="0"/>
          <a:fontRef idx="minor"/>
        </p:style>
        <p:txBody>
          <a:bodyPr lIns="18000" rIns="18000" tIns="9000" bIns="9000" anchor="t">
            <a:spAutoFit/>
          </a:bodyPr>
          <a:p>
            <a:pPr defTabSz="279360">
              <a:lnSpc>
                <a:spcPct val="100000"/>
              </a:lnSpc>
            </a:pPr>
            <a:r>
              <a:rPr b="0" lang="fr-FR" sz="1400" spc="-1" strike="noStrike">
                <a:solidFill>
                  <a:srgbClr val="000066"/>
                </a:solidFill>
                <a:latin typeface="Impact"/>
              </a:rPr>
              <a:t>Contexte</a:t>
            </a:r>
            <a:endParaRPr b="0" lang="en-US" sz="1400" spc="-1" strike="noStrike">
              <a:solidFill>
                <a:srgbClr val="000000"/>
              </a:solidFill>
              <a:latin typeface="Arial"/>
            </a:endParaRPr>
          </a:p>
          <a:p>
            <a:pPr algn="just" defTabSz="279360">
              <a:lnSpc>
                <a:spcPct val="100000"/>
              </a:lnSpc>
            </a:pPr>
            <a:endParaRPr b="0" lang="en-US" sz="300" spc="-1" strike="noStrike">
              <a:solidFill>
                <a:srgbClr val="000000"/>
              </a:solidFill>
              <a:latin typeface="Arial"/>
            </a:endParaRPr>
          </a:p>
          <a:p>
            <a:pPr marL="146160" indent="-146160" algn="just" defTabSz="253800">
              <a:lnSpc>
                <a:spcPct val="100000"/>
              </a:lnSpc>
              <a:buClr>
                <a:srgbClr val="000000"/>
              </a:buClr>
              <a:buFont typeface="Wingdings 3" charset="2"/>
              <a:buChar char=""/>
            </a:pPr>
            <a:r>
              <a:rPr b="0" lang="fr-FR" sz="800" spc="-1" strike="noStrike">
                <a:solidFill>
                  <a:srgbClr val="000000"/>
                </a:solidFill>
                <a:latin typeface="Arial Narrow"/>
                <a:ea typeface="Noto Sans CJK SC"/>
              </a:rPr>
              <a:t>Le Deep Learning Laboratory de SNU est un laboratoire sp</a:t>
            </a:r>
            <a:r>
              <a:rPr b="0" lang="fr-FR" sz="800" spc="-1" strike="noStrike">
                <a:solidFill>
                  <a:schemeClr val="dk1"/>
                </a:solidFill>
                <a:latin typeface="Arial Narrow"/>
                <a:ea typeface="Noto Sans CJK SC"/>
              </a:rPr>
              <a:t>é</a:t>
            </a:r>
            <a:r>
              <a:rPr b="0" lang="fr-FR" sz="800" spc="-1" strike="noStrike">
                <a:solidFill>
                  <a:srgbClr val="000000"/>
                </a:solidFill>
                <a:latin typeface="Arial Narrow"/>
                <a:ea typeface="Noto Sans CJK SC"/>
              </a:rPr>
              <a:t>cialis</a:t>
            </a:r>
            <a:r>
              <a:rPr b="0" lang="fr-FR" sz="800" spc="-1" strike="noStrike">
                <a:solidFill>
                  <a:schemeClr val="dk1"/>
                </a:solidFill>
                <a:latin typeface="Arial Narrow"/>
                <a:ea typeface="Noto Sans CJK SC"/>
              </a:rPr>
              <a:t>é</a:t>
            </a:r>
            <a:r>
              <a:rPr b="0" lang="fr-FR" sz="800" spc="-1" strike="noStrike">
                <a:solidFill>
                  <a:srgbClr val="000000"/>
                </a:solidFill>
                <a:latin typeface="Arial Narrow"/>
                <a:ea typeface="Noto Sans CJK SC"/>
              </a:rPr>
              <a:t> dans la recherche en IA, sur diff</a:t>
            </a:r>
            <a:r>
              <a:rPr b="0" lang="fr-FR" sz="800" spc="-1" strike="noStrike">
                <a:solidFill>
                  <a:schemeClr val="dk1"/>
                </a:solidFill>
                <a:latin typeface="Arial Narrow"/>
                <a:ea typeface="Noto Sans CJK SC"/>
              </a:rPr>
              <a:t>é</a:t>
            </a:r>
            <a:r>
              <a:rPr b="0" lang="fr-FR" sz="800" spc="-1" strike="noStrike">
                <a:solidFill>
                  <a:srgbClr val="000000"/>
                </a:solidFill>
                <a:latin typeface="Arial Narrow"/>
                <a:ea typeface="Noto Sans CJK SC"/>
              </a:rPr>
              <a:t>rents sujets, dont la vision par ordinateur, la finance et d</a:t>
            </a:r>
            <a:r>
              <a:rPr b="0" lang="fr-FR" sz="800" spc="-1" strike="noStrike">
                <a:solidFill>
                  <a:schemeClr val="dk1"/>
                </a:solidFill>
                <a:latin typeface="Arial Narrow"/>
                <a:ea typeface="Noto Sans CJK SC"/>
              </a:rPr>
              <a:t>é</a:t>
            </a:r>
            <a:r>
              <a:rPr b="0" lang="fr-FR" sz="800" spc="-1" strike="noStrike">
                <a:solidFill>
                  <a:srgbClr val="000000"/>
                </a:solidFill>
                <a:latin typeface="Arial Narrow"/>
                <a:ea typeface="Noto Sans CJK SC"/>
              </a:rPr>
              <a:t>veloppement de materiel pour l’inference d’IA a l’aide d’agents LLM. Mon cadre s’inscrivaient dans le theme de l’IA en finance. L’equipe est consitut</a:t>
            </a:r>
            <a:r>
              <a:rPr b="0" lang="fr-FR" sz="800" spc="-1" strike="noStrike">
                <a:solidFill>
                  <a:schemeClr val="dk1"/>
                </a:solidFill>
                <a:latin typeface="Arial Narrow"/>
              </a:rPr>
              <a:t>é</a:t>
            </a:r>
            <a:r>
              <a:rPr b="0" lang="fr-FR" sz="800" spc="-1" strike="noStrike">
                <a:solidFill>
                  <a:srgbClr val="000000"/>
                </a:solidFill>
                <a:latin typeface="Arial Narrow"/>
              </a:rPr>
              <a:t> de 10 personnes : ingenieurs, Phd students, chercheurs.</a:t>
            </a:r>
            <a:endParaRPr b="0" lang="en-US" sz="800" spc="-1" strike="noStrike">
              <a:solidFill>
                <a:srgbClr val="000000"/>
              </a:solidFill>
              <a:latin typeface="Arial"/>
            </a:endParaRPr>
          </a:p>
        </p:txBody>
      </p:sp>
      <p:sp>
        <p:nvSpPr>
          <p:cNvPr id="87" name="Rectangle 7"/>
          <p:cNvSpPr/>
          <p:nvPr/>
        </p:nvSpPr>
        <p:spPr>
          <a:xfrm>
            <a:off x="228600" y="946800"/>
            <a:ext cx="8807400" cy="1020960"/>
          </a:xfrm>
          <a:prstGeom prst="rect">
            <a:avLst/>
          </a:prstGeom>
          <a:noFill/>
          <a:ln w="12700">
            <a:solidFill>
              <a:srgbClr val="000000"/>
            </a:solidFill>
            <a:round/>
          </a:ln>
        </p:spPr>
        <p:style>
          <a:lnRef idx="2">
            <a:schemeClr val="accent1">
              <a:shade val="50000"/>
            </a:schemeClr>
          </a:lnRef>
          <a:fillRef idx="1">
            <a:schemeClr val="accent1"/>
          </a:fillRef>
          <a:effectRef idx="0">
            <a:schemeClr val="accent1"/>
          </a:effectRef>
          <a:fontRef idx="minor"/>
        </p:style>
        <p:txBody>
          <a:bodyPr lIns="18000" rIns="18000" tIns="9000" bIns="9000" anchor="ctr">
            <a:noAutofit/>
          </a:bodyPr>
          <a:p>
            <a:pPr algn="ctr" defTabSz="583200">
              <a:lnSpc>
                <a:spcPct val="100000"/>
              </a:lnSpc>
            </a:pPr>
            <a:endParaRPr b="0" lang="fr-FR" sz="1800" spc="-1" strike="noStrike">
              <a:solidFill>
                <a:srgbClr val="ffffff"/>
              </a:solidFill>
              <a:latin typeface="Times New Roman"/>
            </a:endParaRPr>
          </a:p>
        </p:txBody>
      </p:sp>
      <p:sp>
        <p:nvSpPr>
          <p:cNvPr id="88" name="Text Box 736"/>
          <p:cNvSpPr/>
          <p:nvPr/>
        </p:nvSpPr>
        <p:spPr>
          <a:xfrm>
            <a:off x="4572000" y="914400"/>
            <a:ext cx="4464000" cy="1053360"/>
          </a:xfrm>
          <a:prstGeom prst="rect">
            <a:avLst/>
          </a:prstGeom>
          <a:noFill/>
          <a:ln w="0">
            <a:noFill/>
          </a:ln>
        </p:spPr>
        <p:style>
          <a:lnRef idx="0"/>
          <a:fillRef idx="0"/>
          <a:effectRef idx="0"/>
          <a:fontRef idx="minor"/>
        </p:style>
        <p:txBody>
          <a:bodyPr lIns="18000" rIns="18000" tIns="9000" bIns="9000" anchor="t">
            <a:spAutoFit/>
          </a:bodyPr>
          <a:p>
            <a:pPr defTabSz="279360">
              <a:lnSpc>
                <a:spcPct val="100000"/>
              </a:lnSpc>
            </a:pPr>
            <a:r>
              <a:rPr b="0" lang="fr-FR" sz="1300" spc="-1" strike="noStrike">
                <a:solidFill>
                  <a:srgbClr val="000066"/>
                </a:solidFill>
                <a:latin typeface="Impact"/>
              </a:rPr>
              <a:t>Objectif </a:t>
            </a:r>
            <a:endParaRPr b="0" lang="en-US" sz="1300" spc="-1" strike="noStrike">
              <a:solidFill>
                <a:srgbClr val="000000"/>
              </a:solidFill>
              <a:latin typeface="Arial"/>
            </a:endParaRPr>
          </a:p>
          <a:p>
            <a:pPr defTabSz="279360">
              <a:lnSpc>
                <a:spcPct val="100000"/>
              </a:lnSpc>
            </a:pPr>
            <a:endParaRPr b="0" lang="en-US" sz="200" spc="-1" strike="noStrike">
              <a:solidFill>
                <a:srgbClr val="000000"/>
              </a:solidFill>
              <a:latin typeface="Arial"/>
            </a:endParaRPr>
          </a:p>
          <a:p>
            <a:pPr marL="166680" indent="-166680" algn="just" defTabSz="253800">
              <a:lnSpc>
                <a:spcPct val="100000"/>
              </a:lnSpc>
              <a:buClr>
                <a:srgbClr val="000000"/>
              </a:buClr>
              <a:buFont typeface="Wingdings 3" charset="2"/>
              <a:buChar char=""/>
            </a:pPr>
            <a:r>
              <a:rPr b="0" lang="fr-FR" sz="800" spc="-1" strike="noStrike">
                <a:solidFill>
                  <a:schemeClr val="dk1"/>
                </a:solidFill>
                <a:latin typeface="Arial Narrow"/>
                <a:ea typeface="Noto Sans CJK SC"/>
              </a:rPr>
              <a:t>Mon objectif etait de développer une méthode permettant de filtrer un marché pour détecter differents régimes et de se positionner dessus en cons</a:t>
            </a:r>
            <a:r>
              <a:rPr b="0" lang="fr-FR" sz="800" spc="-1" strike="noStrike">
                <a:solidFill>
                  <a:schemeClr val="dk1"/>
                </a:solidFill>
                <a:latin typeface="Arial Narrow"/>
              </a:rPr>
              <a:t>équence.</a:t>
            </a:r>
            <a:endParaRPr b="0" lang="en-US" sz="800" spc="-1" strike="noStrike">
              <a:solidFill>
                <a:srgbClr val="000000"/>
              </a:solidFill>
              <a:latin typeface="Arial"/>
            </a:endParaRPr>
          </a:p>
          <a:p>
            <a:pPr algn="just" defTabSz="253800">
              <a:lnSpc>
                <a:spcPct val="100000"/>
              </a:lnSpc>
            </a:pPr>
            <a:endParaRPr b="0" lang="en-US" sz="400" spc="-1" strike="noStrike">
              <a:solidFill>
                <a:srgbClr val="000000"/>
              </a:solidFill>
              <a:latin typeface="Arial"/>
            </a:endParaRPr>
          </a:p>
          <a:p>
            <a:pPr defTabSz="279360">
              <a:lnSpc>
                <a:spcPct val="100000"/>
              </a:lnSpc>
            </a:pPr>
            <a:r>
              <a:rPr b="0" lang="fr-FR" sz="1300" spc="-1" strike="noStrike">
                <a:solidFill>
                  <a:srgbClr val="000066"/>
                </a:solidFill>
                <a:latin typeface="Impact"/>
              </a:rPr>
              <a:t>Proposition</a:t>
            </a:r>
            <a:endParaRPr b="0" lang="en-US" sz="1300" spc="-1" strike="noStrike">
              <a:solidFill>
                <a:srgbClr val="000000"/>
              </a:solidFill>
              <a:latin typeface="Arial"/>
            </a:endParaRPr>
          </a:p>
          <a:p>
            <a:pPr defTabSz="279360">
              <a:lnSpc>
                <a:spcPct val="100000"/>
              </a:lnSpc>
            </a:pPr>
            <a:endParaRPr b="0" lang="en-US" sz="100" spc="-1" strike="noStrike">
              <a:solidFill>
                <a:srgbClr val="000000"/>
              </a:solidFill>
              <a:latin typeface="Arial"/>
            </a:endParaRPr>
          </a:p>
          <a:p>
            <a:pPr marL="166680" indent="-166680" algn="just" defTabSz="253800">
              <a:lnSpc>
                <a:spcPct val="100000"/>
              </a:lnSpc>
              <a:buClr>
                <a:srgbClr val="000000"/>
              </a:buClr>
              <a:buFont typeface="Wingdings 3" charset="2"/>
              <a:buChar char=""/>
            </a:pPr>
            <a:r>
              <a:rPr b="0" lang="fr-FR" sz="800" spc="-1" strike="noStrike">
                <a:solidFill>
                  <a:schemeClr val="dk1"/>
                </a:solidFill>
                <a:latin typeface="Arial Narrow"/>
                <a:ea typeface="Noto Sans CJK SC"/>
              </a:rPr>
              <a:t> </a:t>
            </a:r>
            <a:r>
              <a:rPr b="0" lang="fr-FR" sz="800" spc="-1" strike="noStrike">
                <a:solidFill>
                  <a:schemeClr val="dk1"/>
                </a:solidFill>
                <a:latin typeface="Arial Narrow"/>
                <a:ea typeface="Noto Sans CJK SC"/>
              </a:rPr>
              <a:t>J’ai developpé des modeles caches de Markov pour analyser la tendence du marché et de filtrer celui ci, pour ensuite implementer une IA permettant de produire des décisions de positionnement sur ce march</a:t>
            </a:r>
            <a:r>
              <a:rPr b="0" lang="fr-FR" sz="800" spc="-1" strike="noStrike">
                <a:solidFill>
                  <a:schemeClr val="dk1"/>
                </a:solidFill>
                <a:latin typeface="Arial Narrow"/>
              </a:rPr>
              <a:t>é particulier.</a:t>
            </a:r>
            <a:endParaRPr b="0" lang="en-US" sz="800" spc="-1" strike="noStrike">
              <a:solidFill>
                <a:srgbClr val="000000"/>
              </a:solidFill>
              <a:latin typeface="Arial"/>
            </a:endParaRPr>
          </a:p>
          <a:p>
            <a:pPr defTabSz="279360">
              <a:lnSpc>
                <a:spcPct val="100000"/>
              </a:lnSpc>
            </a:pPr>
            <a:endParaRPr b="0" lang="en-US" sz="100" spc="-1" strike="noStrike">
              <a:solidFill>
                <a:srgbClr val="000000"/>
              </a:solidFill>
              <a:latin typeface="Arial"/>
            </a:endParaRPr>
          </a:p>
          <a:p>
            <a:pPr algn="just" defTabSz="253800">
              <a:lnSpc>
                <a:spcPct val="100000"/>
              </a:lnSpc>
            </a:pPr>
            <a:endParaRPr b="0" lang="en-US" sz="200" spc="-1" strike="noStrike">
              <a:solidFill>
                <a:srgbClr val="000000"/>
              </a:solidFill>
              <a:latin typeface="Arial"/>
            </a:endParaRPr>
          </a:p>
        </p:txBody>
      </p:sp>
      <p:cxnSp>
        <p:nvCxnSpPr>
          <p:cNvPr id="89" name="Connecteur droit 9"/>
          <p:cNvCxnSpPr/>
          <p:nvPr/>
        </p:nvCxnSpPr>
        <p:spPr>
          <a:xfrm>
            <a:off x="573480" y="2839680"/>
            <a:ext cx="8162280" cy="1800"/>
          </a:xfrm>
          <a:prstGeom prst="straightConnector1">
            <a:avLst/>
          </a:prstGeom>
          <a:ln w="6350">
            <a:solidFill>
              <a:srgbClr val="000000"/>
            </a:solidFill>
            <a:round/>
          </a:ln>
        </p:spPr>
      </p:cxnSp>
      <p:sp>
        <p:nvSpPr>
          <p:cNvPr id="90" name="Rectangle 10"/>
          <p:cNvSpPr/>
          <p:nvPr/>
        </p:nvSpPr>
        <p:spPr>
          <a:xfrm>
            <a:off x="268920" y="2165400"/>
            <a:ext cx="8807760" cy="1847520"/>
          </a:xfrm>
          <a:prstGeom prst="rect">
            <a:avLst/>
          </a:prstGeom>
          <a:noFill/>
          <a:ln w="12700">
            <a:solidFill>
              <a:srgbClr val="000000"/>
            </a:solidFill>
            <a:round/>
          </a:ln>
        </p:spPr>
        <p:style>
          <a:lnRef idx="2">
            <a:schemeClr val="accent1">
              <a:shade val="50000"/>
            </a:schemeClr>
          </a:lnRef>
          <a:fillRef idx="1">
            <a:schemeClr val="accent1"/>
          </a:fillRef>
          <a:effectRef idx="0">
            <a:schemeClr val="accent1"/>
          </a:effectRef>
          <a:fontRef idx="minor"/>
        </p:style>
        <p:txBody>
          <a:bodyPr lIns="18000" rIns="18000" tIns="9000" bIns="9000" anchor="ctr">
            <a:noAutofit/>
          </a:bodyPr>
          <a:p>
            <a:pPr algn="ctr" defTabSz="583200">
              <a:lnSpc>
                <a:spcPct val="100000"/>
              </a:lnSpc>
            </a:pPr>
            <a:endParaRPr b="0" lang="fr-FR" sz="1800" spc="-1" strike="noStrike">
              <a:solidFill>
                <a:srgbClr val="ffffff"/>
              </a:solidFill>
              <a:latin typeface="Times New Roman"/>
            </a:endParaRPr>
          </a:p>
        </p:txBody>
      </p:sp>
      <p:sp>
        <p:nvSpPr>
          <p:cNvPr id="91" name="Text Box 736"/>
          <p:cNvSpPr/>
          <p:nvPr/>
        </p:nvSpPr>
        <p:spPr>
          <a:xfrm>
            <a:off x="268920" y="2165400"/>
            <a:ext cx="3199680" cy="651960"/>
          </a:xfrm>
          <a:prstGeom prst="rect">
            <a:avLst/>
          </a:prstGeom>
          <a:noFill/>
          <a:ln w="0">
            <a:noFill/>
          </a:ln>
        </p:spPr>
        <p:style>
          <a:lnRef idx="0"/>
          <a:fillRef idx="0"/>
          <a:effectRef idx="0"/>
          <a:fontRef idx="minor"/>
        </p:style>
        <p:txBody>
          <a:bodyPr lIns="28080" rIns="28080" tIns="14040" bIns="14040" anchor="t">
            <a:spAutoFit/>
          </a:bodyPr>
          <a:p>
            <a:pPr algn="just" defTabSz="279360">
              <a:lnSpc>
                <a:spcPct val="100000"/>
              </a:lnSpc>
            </a:pPr>
            <a:r>
              <a:rPr b="0" lang="fr-FR" sz="1300" spc="-1" strike="noStrike">
                <a:solidFill>
                  <a:srgbClr val="000066"/>
                </a:solidFill>
                <a:latin typeface="Impact"/>
              </a:rPr>
              <a:t>Description du projet</a:t>
            </a:r>
            <a:endParaRPr b="0" lang="en-US" sz="1300" spc="-1" strike="noStrike">
              <a:solidFill>
                <a:srgbClr val="000000"/>
              </a:solidFill>
              <a:latin typeface="Arial"/>
            </a:endParaRPr>
          </a:p>
          <a:p>
            <a:pPr algn="just" defTabSz="279360">
              <a:lnSpc>
                <a:spcPct val="100000"/>
              </a:lnSpc>
            </a:pPr>
            <a:endParaRPr b="0" lang="en-US" sz="400" spc="-1" strike="noStrike">
              <a:solidFill>
                <a:srgbClr val="000000"/>
              </a:solidFill>
              <a:latin typeface="Arial"/>
            </a:endParaRPr>
          </a:p>
          <a:p>
            <a:pPr marL="146160" indent="-146160" algn="just" defTabSz="253800">
              <a:lnSpc>
                <a:spcPct val="100000"/>
              </a:lnSpc>
              <a:buClr>
                <a:srgbClr val="000000"/>
              </a:buClr>
              <a:buFont typeface="Wingdings 3" charset="2"/>
              <a:buChar char=""/>
            </a:pPr>
            <a:r>
              <a:rPr b="0" lang="fr-FR" sz="800" spc="-1" strike="noStrike">
                <a:solidFill>
                  <a:schemeClr val="dk1"/>
                </a:solidFill>
                <a:latin typeface="Arial Narrow"/>
                <a:ea typeface="Noto Sans CJK SC"/>
              </a:rPr>
              <a:t>La premiere étape etait de </a:t>
            </a:r>
            <a:r>
              <a:rPr b="1" lang="fr-FR" sz="800" spc="-1" strike="noStrike">
                <a:solidFill>
                  <a:schemeClr val="dk1"/>
                </a:solidFill>
                <a:latin typeface="Arial Narrow"/>
                <a:ea typeface="Noto Sans CJK SC"/>
              </a:rPr>
              <a:t>developpe</a:t>
            </a:r>
            <a:r>
              <a:rPr b="1" lang="fr-FR" sz="800" spc="-1" strike="noStrike">
                <a:solidFill>
                  <a:schemeClr val="dk1"/>
                </a:solidFill>
                <a:latin typeface="Arial Narrow"/>
              </a:rPr>
              <a:t> le modele de Markov cache</a:t>
            </a:r>
            <a:r>
              <a:rPr b="0" lang="fr-FR" sz="800" spc="-1" strike="noStrike">
                <a:solidFill>
                  <a:schemeClr val="dk1"/>
                </a:solidFill>
                <a:latin typeface="Arial Narrow"/>
              </a:rPr>
              <a:t>. Nous avions plusieurs solutions pour cela : Creer un HMM classique ou créer un HMM a l’aide de l’approximation champ moyen ( Variational Bayesian Inference).</a:t>
            </a:r>
            <a:endParaRPr b="0" lang="en-US" sz="800" spc="-1" strike="noStrike">
              <a:solidFill>
                <a:srgbClr val="000000"/>
              </a:solidFill>
              <a:latin typeface="Arial"/>
            </a:endParaRPr>
          </a:p>
        </p:txBody>
      </p:sp>
      <p:sp>
        <p:nvSpPr>
          <p:cNvPr id="92" name="Rectangle 1091"/>
          <p:cNvSpPr/>
          <p:nvPr/>
        </p:nvSpPr>
        <p:spPr>
          <a:xfrm rot="9000">
            <a:off x="3467880" y="2346480"/>
            <a:ext cx="2285280" cy="392760"/>
          </a:xfrm>
          <a:prstGeom prst="rect">
            <a:avLst/>
          </a:prstGeom>
          <a:noFill/>
          <a:ln w="0">
            <a:noFill/>
          </a:ln>
        </p:spPr>
        <p:style>
          <a:lnRef idx="0"/>
          <a:fillRef idx="0"/>
          <a:effectRef idx="0"/>
          <a:fontRef idx="minor"/>
        </p:style>
        <p:txBody>
          <a:bodyPr lIns="28080" rIns="28080" tIns="14040" bIns="14040" anchor="t">
            <a:spAutoFit/>
          </a:bodyPr>
          <a:p>
            <a:pPr marL="146160" indent="-146160" algn="just" defTabSz="253800">
              <a:lnSpc>
                <a:spcPct val="100000"/>
              </a:lnSpc>
              <a:buClr>
                <a:srgbClr val="000000"/>
              </a:buClr>
              <a:buFont typeface="Wingdings 3" charset="2"/>
              <a:buChar char=""/>
            </a:pPr>
            <a:r>
              <a:rPr b="0" lang="fr-FR" sz="800" spc="-1" strike="noStrike">
                <a:solidFill>
                  <a:schemeClr val="dk1"/>
                </a:solidFill>
                <a:latin typeface="Arial Narrow"/>
                <a:ea typeface="Noto Sans CJK SC"/>
              </a:rPr>
              <a:t>La deuxieme étape etait d’</a:t>
            </a:r>
            <a:r>
              <a:rPr b="1" lang="fr-FR" sz="800" spc="-1" strike="noStrike">
                <a:solidFill>
                  <a:schemeClr val="dk1"/>
                </a:solidFill>
                <a:latin typeface="Arial Narrow"/>
                <a:ea typeface="Noto Sans CJK SC"/>
              </a:rPr>
              <a:t>inte</a:t>
            </a:r>
            <a:r>
              <a:rPr b="1" lang="fr-FR" sz="800" spc="-1" strike="noStrike">
                <a:solidFill>
                  <a:schemeClr val="dk1"/>
                </a:solidFill>
                <a:latin typeface="Arial Narrow"/>
                <a:ea typeface="Noto Sans CJK SC"/>
              </a:rPr>
              <a:t>grer ce modele de filtrage a des reseaux de neurones</a:t>
            </a:r>
            <a:r>
              <a:rPr b="0" lang="fr-FR" sz="800" spc="-1" strike="noStrike">
                <a:solidFill>
                  <a:schemeClr val="dk1"/>
                </a:solidFill>
                <a:latin typeface="Arial Narrow"/>
                <a:ea typeface="Noto Sans CJK SC"/>
              </a:rPr>
              <a:t> pour affiner la pr</a:t>
            </a:r>
            <a:r>
              <a:rPr b="0" lang="fr-FR" sz="800" spc="-1" strike="noStrike">
                <a:solidFill>
                  <a:schemeClr val="dk1"/>
                </a:solidFill>
                <a:latin typeface="Arial Narrow"/>
              </a:rPr>
              <a:t>écision et renvoyer des signaux d’achat et de vente.</a:t>
            </a:r>
            <a:endParaRPr b="0" lang="en-US" sz="800" spc="-1" strike="noStrike">
              <a:solidFill>
                <a:srgbClr val="000000"/>
              </a:solidFill>
              <a:latin typeface="Arial"/>
            </a:endParaRPr>
          </a:p>
        </p:txBody>
      </p:sp>
      <p:sp>
        <p:nvSpPr>
          <p:cNvPr id="93" name="Rectangle 13"/>
          <p:cNvSpPr/>
          <p:nvPr/>
        </p:nvSpPr>
        <p:spPr>
          <a:xfrm>
            <a:off x="20160" y="1884960"/>
            <a:ext cx="9131760" cy="401040"/>
          </a:xfrm>
          <a:prstGeom prst="rect">
            <a:avLst/>
          </a:prstGeom>
          <a:noFill/>
          <a:ln w="0">
            <a:noFill/>
          </a:ln>
        </p:spPr>
        <p:style>
          <a:lnRef idx="0"/>
          <a:fillRef idx="0"/>
          <a:effectRef idx="0"/>
          <a:fontRef idx="minor"/>
        </p:style>
        <p:txBody>
          <a:bodyPr lIns="28080" rIns="28080" tIns="14040" bIns="14040" anchor="ctr">
            <a:noAutofit/>
          </a:bodyPr>
          <a:p>
            <a:pPr algn="ctr" defTabSz="914400">
              <a:lnSpc>
                <a:spcPct val="100000"/>
              </a:lnSpc>
              <a:tabLst>
                <a:tab algn="l" pos="357120"/>
              </a:tabLst>
            </a:pPr>
            <a:r>
              <a:rPr b="1" lang="fr-FR" sz="1400" spc="-1" strike="noStrike">
                <a:solidFill>
                  <a:srgbClr val="cc0000"/>
                </a:solidFill>
                <a:latin typeface="Arial Black"/>
              </a:rPr>
              <a:t>Déroulement du projet</a:t>
            </a:r>
            <a:endParaRPr b="0" lang="en-US" sz="1400" spc="-1" strike="noStrike">
              <a:solidFill>
                <a:srgbClr val="000000"/>
              </a:solidFill>
              <a:latin typeface="Arial"/>
            </a:endParaRPr>
          </a:p>
        </p:txBody>
      </p:sp>
      <p:sp>
        <p:nvSpPr>
          <p:cNvPr id="94" name="Text Box 736"/>
          <p:cNvSpPr/>
          <p:nvPr/>
        </p:nvSpPr>
        <p:spPr>
          <a:xfrm>
            <a:off x="4902120" y="2742480"/>
            <a:ext cx="3972600" cy="422280"/>
          </a:xfrm>
          <a:prstGeom prst="rect">
            <a:avLst/>
          </a:prstGeom>
          <a:noFill/>
          <a:ln w="0">
            <a:noFill/>
          </a:ln>
        </p:spPr>
        <p:style>
          <a:lnRef idx="0"/>
          <a:fillRef idx="0"/>
          <a:effectRef idx="0"/>
          <a:fontRef idx="minor"/>
        </p:style>
        <p:txBody>
          <a:bodyPr lIns="28080" rIns="28080" tIns="14040" bIns="14040" anchor="t">
            <a:spAutoFit/>
          </a:bodyPr>
          <a:p>
            <a:pPr algn="just" defTabSz="253800">
              <a:lnSpc>
                <a:spcPct val="100000"/>
              </a:lnSpc>
            </a:pPr>
            <a:endParaRPr b="0" lang="en-US" sz="800" spc="-1" strike="noStrike">
              <a:solidFill>
                <a:srgbClr val="000000"/>
              </a:solidFill>
              <a:latin typeface="Arial"/>
            </a:endParaRPr>
          </a:p>
          <a:p>
            <a:pPr marL="146160" indent="-146160" defTabSz="253800">
              <a:lnSpc>
                <a:spcPct val="100000"/>
              </a:lnSpc>
              <a:spcBef>
                <a:spcPts val="1191"/>
              </a:spcBef>
              <a:spcAft>
                <a:spcPts val="992"/>
              </a:spcAft>
              <a:buClr>
                <a:srgbClr val="000000"/>
              </a:buClr>
              <a:buFont typeface="Wingdings 3" charset="2"/>
              <a:buChar char=""/>
            </a:pPr>
            <a:r>
              <a:rPr b="0" lang="fr-FR" sz="800" spc="-1" strike="noStrike">
                <a:solidFill>
                  <a:schemeClr val="dk1"/>
                </a:solidFill>
                <a:latin typeface="Arial Narrow"/>
              </a:rPr>
              <a:t>Nous avons utilisé le langage Python, car souple et facile d’utilisation.</a:t>
            </a:r>
            <a:endParaRPr b="0" lang="en-US" sz="800" spc="-1" strike="noStrike">
              <a:solidFill>
                <a:srgbClr val="000000"/>
              </a:solidFill>
              <a:latin typeface="Arial"/>
            </a:endParaRPr>
          </a:p>
        </p:txBody>
      </p:sp>
      <p:sp>
        <p:nvSpPr>
          <p:cNvPr id="95" name="Rectangle 14"/>
          <p:cNvSpPr/>
          <p:nvPr/>
        </p:nvSpPr>
        <p:spPr>
          <a:xfrm>
            <a:off x="0" y="3905640"/>
            <a:ext cx="4800600" cy="374760"/>
          </a:xfrm>
          <a:prstGeom prst="rect">
            <a:avLst/>
          </a:prstGeom>
          <a:noFill/>
          <a:ln w="0">
            <a:noFill/>
          </a:ln>
        </p:spPr>
        <p:style>
          <a:lnRef idx="0"/>
          <a:fillRef idx="0"/>
          <a:effectRef idx="0"/>
          <a:fontRef idx="minor"/>
        </p:style>
        <p:txBody>
          <a:bodyPr lIns="28080" rIns="28080" tIns="14040" bIns="14040" anchor="ctr">
            <a:noAutofit/>
          </a:bodyPr>
          <a:p>
            <a:pPr algn="ctr" defTabSz="914400">
              <a:lnSpc>
                <a:spcPct val="100000"/>
              </a:lnSpc>
              <a:tabLst>
                <a:tab algn="l" pos="357120"/>
              </a:tabLst>
            </a:pPr>
            <a:r>
              <a:rPr b="1" lang="fr-FR" sz="1400" spc="-1" strike="noStrike">
                <a:solidFill>
                  <a:srgbClr val="cc0000"/>
                </a:solidFill>
                <a:latin typeface="Arial Black"/>
              </a:rPr>
              <a:t>Conclusion</a:t>
            </a:r>
            <a:endParaRPr b="0" lang="en-US" sz="1400" spc="-1" strike="noStrike">
              <a:solidFill>
                <a:srgbClr val="000000"/>
              </a:solidFill>
              <a:latin typeface="Arial"/>
            </a:endParaRPr>
          </a:p>
        </p:txBody>
      </p:sp>
      <p:sp>
        <p:nvSpPr>
          <p:cNvPr id="96" name="Text Box 736"/>
          <p:cNvSpPr/>
          <p:nvPr/>
        </p:nvSpPr>
        <p:spPr>
          <a:xfrm>
            <a:off x="228600" y="4350600"/>
            <a:ext cx="4800600" cy="393480"/>
          </a:xfrm>
          <a:prstGeom prst="rect">
            <a:avLst/>
          </a:prstGeom>
          <a:noFill/>
          <a:ln w="0">
            <a:noFill/>
          </a:ln>
        </p:spPr>
        <p:style>
          <a:lnRef idx="0"/>
          <a:fillRef idx="0"/>
          <a:effectRef idx="0"/>
          <a:fontRef idx="minor"/>
        </p:style>
        <p:txBody>
          <a:bodyPr lIns="28080" rIns="28080" tIns="14040" bIns="14040" anchor="t">
            <a:spAutoFit/>
          </a:bodyPr>
          <a:p>
            <a:pPr marL="146160" indent="-146160" defTabSz="253800">
              <a:lnSpc>
                <a:spcPct val="100000"/>
              </a:lnSpc>
              <a:spcBef>
                <a:spcPts val="1191"/>
              </a:spcBef>
              <a:spcAft>
                <a:spcPts val="992"/>
              </a:spcAft>
              <a:buClr>
                <a:srgbClr val="000000"/>
              </a:buClr>
              <a:buFont typeface="Wingdings 3" charset="2"/>
              <a:buChar char=""/>
            </a:pPr>
            <a:r>
              <a:rPr b="0" lang="fr-FR" sz="800" spc="-1" strike="noStrike">
                <a:solidFill>
                  <a:schemeClr val="dk1"/>
                </a:solidFill>
                <a:latin typeface="Arial Narrow"/>
              </a:rPr>
              <a:t>Notre recherche nous a permis de développer deux modèles importants : un utilisant l’approche bayésienne variationnelle, et l’autre en concaténant ce premier modèle à des réseaux de neurones. Ces deux modèles nous ont procuré des résultats très satisfaisants. Nous avons également pu mettre en place le trading en temps réel sur un compte de courtage.</a:t>
            </a:r>
            <a:endParaRPr b="0" lang="en-US" sz="800" spc="-1" strike="noStrike">
              <a:solidFill>
                <a:srgbClr val="000000"/>
              </a:solidFill>
              <a:latin typeface="Arial"/>
            </a:endParaRPr>
          </a:p>
        </p:txBody>
      </p:sp>
      <p:sp>
        <p:nvSpPr>
          <p:cNvPr id="97" name="Text Box 736"/>
          <p:cNvSpPr/>
          <p:nvPr/>
        </p:nvSpPr>
        <p:spPr>
          <a:xfrm>
            <a:off x="228600" y="4750920"/>
            <a:ext cx="4343400" cy="519480"/>
          </a:xfrm>
          <a:prstGeom prst="rect">
            <a:avLst/>
          </a:prstGeom>
          <a:noFill/>
          <a:ln w="0">
            <a:noFill/>
          </a:ln>
        </p:spPr>
        <p:style>
          <a:lnRef idx="0"/>
          <a:fillRef idx="0"/>
          <a:effectRef idx="0"/>
          <a:fontRef idx="minor"/>
        </p:style>
        <p:txBody>
          <a:bodyPr lIns="28080" rIns="28080" tIns="14040" bIns="14040" anchor="t">
            <a:spAutoFit/>
          </a:bodyPr>
          <a:p>
            <a:pPr marL="146160" indent="-146160" defTabSz="253800">
              <a:lnSpc>
                <a:spcPct val="100000"/>
              </a:lnSpc>
              <a:spcBef>
                <a:spcPts val="1191"/>
              </a:spcBef>
              <a:spcAft>
                <a:spcPts val="992"/>
              </a:spcAft>
              <a:buClr>
                <a:srgbClr val="000000"/>
              </a:buClr>
              <a:buFont typeface="Wingdings 3" charset="2"/>
              <a:buChar char=""/>
            </a:pPr>
            <a:r>
              <a:rPr b="0" lang="fr-FR" sz="800" spc="-1" strike="noStrike">
                <a:solidFill>
                  <a:schemeClr val="dk1"/>
                </a:solidFill>
                <a:latin typeface="Arial Narrow"/>
              </a:rPr>
              <a:t>J’ai acquis des compétences en traitement du signal, mathématiques appliquées, analyse numérique, développement de code, et ai pu avoir une introduction à la finance</a:t>
            </a:r>
            <a:endParaRPr b="0" lang="en-US" sz="800" spc="-1" strike="noStrike">
              <a:solidFill>
                <a:srgbClr val="000000"/>
              </a:solidFill>
              <a:latin typeface="Arial"/>
            </a:endParaRPr>
          </a:p>
          <a:p>
            <a:pPr defTabSz="279360">
              <a:lnSpc>
                <a:spcPct val="100000"/>
              </a:lnSpc>
            </a:pPr>
            <a:endParaRPr b="0" lang="en-US" sz="800" spc="-1" strike="noStrike">
              <a:solidFill>
                <a:srgbClr val="000000"/>
              </a:solidFill>
              <a:latin typeface="Arial"/>
            </a:endParaRPr>
          </a:p>
        </p:txBody>
      </p:sp>
      <p:sp>
        <p:nvSpPr>
          <p:cNvPr id="98" name="Rectangle 18"/>
          <p:cNvSpPr/>
          <p:nvPr/>
        </p:nvSpPr>
        <p:spPr>
          <a:xfrm>
            <a:off x="228600" y="4280400"/>
            <a:ext cx="8807760" cy="747720"/>
          </a:xfrm>
          <a:prstGeom prst="rect">
            <a:avLst/>
          </a:prstGeom>
          <a:noFill/>
          <a:ln w="12700">
            <a:solidFill>
              <a:srgbClr val="000000"/>
            </a:solidFill>
            <a:round/>
          </a:ln>
        </p:spPr>
        <p:style>
          <a:lnRef idx="2">
            <a:schemeClr val="accent1">
              <a:shade val="50000"/>
            </a:schemeClr>
          </a:lnRef>
          <a:fillRef idx="1">
            <a:schemeClr val="accent1"/>
          </a:fillRef>
          <a:effectRef idx="0">
            <a:schemeClr val="accent1"/>
          </a:effectRef>
          <a:fontRef idx="minor"/>
        </p:style>
        <p:txBody>
          <a:bodyPr lIns="18000" rIns="18000" tIns="9000" bIns="9000" anchor="ctr">
            <a:noAutofit/>
          </a:bodyPr>
          <a:p>
            <a:pPr algn="ctr" defTabSz="583200">
              <a:lnSpc>
                <a:spcPct val="100000"/>
              </a:lnSpc>
            </a:pPr>
            <a:endParaRPr b="0" lang="fr-FR" sz="1800" spc="-1" strike="noStrike">
              <a:solidFill>
                <a:srgbClr val="ffffff"/>
              </a:solidFill>
              <a:latin typeface="Times New Roman"/>
            </a:endParaRPr>
          </a:p>
        </p:txBody>
      </p:sp>
      <p:sp>
        <p:nvSpPr>
          <p:cNvPr id="99" name="ZoneTexte 20"/>
          <p:cNvSpPr/>
          <p:nvPr/>
        </p:nvSpPr>
        <p:spPr>
          <a:xfrm>
            <a:off x="268920" y="2811600"/>
            <a:ext cx="4531680" cy="1603080"/>
          </a:xfrm>
          <a:prstGeom prst="rect">
            <a:avLst/>
          </a:prstGeom>
          <a:noFill/>
          <a:ln w="0">
            <a:noFill/>
          </a:ln>
        </p:spPr>
        <p:style>
          <a:lnRef idx="0"/>
          <a:fillRef idx="0"/>
          <a:effectRef idx="0"/>
          <a:fontRef idx="minor"/>
        </p:style>
        <p:txBody>
          <a:bodyPr lIns="90000" rIns="90000" tIns="45000" bIns="45000" anchor="t">
            <a:spAutoFit/>
          </a:bodyPr>
          <a:p>
            <a:pPr algn="just" defTabSz="279360">
              <a:lnSpc>
                <a:spcPct val="100000"/>
              </a:lnSpc>
            </a:pPr>
            <a:r>
              <a:rPr b="0" lang="fr-FR" sz="1300" spc="-1" strike="noStrike">
                <a:solidFill>
                  <a:srgbClr val="000066"/>
                </a:solidFill>
                <a:latin typeface="Impact"/>
              </a:rPr>
              <a:t>Travail réalisé</a:t>
            </a:r>
            <a:endParaRPr b="0" lang="en-US" sz="1300" spc="-1" strike="noStrike">
              <a:solidFill>
                <a:srgbClr val="000000"/>
              </a:solidFill>
              <a:latin typeface="Arial"/>
            </a:endParaRPr>
          </a:p>
          <a:p>
            <a:pPr marL="146160" indent="-146160" defTabSz="253800">
              <a:lnSpc>
                <a:spcPct val="100000"/>
              </a:lnSpc>
              <a:spcBef>
                <a:spcPts val="1191"/>
              </a:spcBef>
              <a:spcAft>
                <a:spcPts val="992"/>
              </a:spcAft>
              <a:buClr>
                <a:srgbClr val="000000"/>
              </a:buClr>
              <a:buFont typeface="Wingdings 3" charset="2"/>
              <a:buChar char=""/>
            </a:pPr>
            <a:r>
              <a:rPr b="0" lang="fr-FR" sz="800" spc="-1" strike="noStrike">
                <a:solidFill>
                  <a:schemeClr val="dk1"/>
                </a:solidFill>
                <a:latin typeface="Arial Narrow"/>
              </a:rPr>
              <a:t>Nous avons développé un modèle de Markov caché à l’aide de l’inférence de Bayes. Un HMM permet de détecter différents régimes dans un dataset. Ici, en finance, il permet de repérer des opportunités d’achats ou de ventes. Cela grâce aux trois paramètres : la matrice de transition, la matrice d’émission et les probabilités initiales. Nous avons ensuite implémenté et concaténé ce modèle à des réseaux de neurones, particulièrement des LSTM et des MLP.</a:t>
            </a:r>
            <a:endParaRPr b="0" lang="en-US" sz="800" spc="-1" strike="noStrike">
              <a:solidFill>
                <a:srgbClr val="000000"/>
              </a:solidFill>
              <a:latin typeface="Arial"/>
            </a:endParaRPr>
          </a:p>
          <a:p>
            <a:pPr marL="146160" indent="-146160" defTabSz="253800">
              <a:lnSpc>
                <a:spcPct val="100000"/>
              </a:lnSpc>
              <a:spcBef>
                <a:spcPts val="1191"/>
              </a:spcBef>
              <a:spcAft>
                <a:spcPts val="992"/>
              </a:spcAft>
              <a:buClr>
                <a:srgbClr val="000000"/>
              </a:buClr>
              <a:buFont typeface="Wingdings 3" charset="2"/>
              <a:buChar char=""/>
            </a:pPr>
            <a:endParaRPr b="0" lang="en-US" sz="800" spc="-1" strike="noStrike">
              <a:solidFill>
                <a:srgbClr val="000000"/>
              </a:solidFill>
              <a:latin typeface="Arial"/>
            </a:endParaRPr>
          </a:p>
          <a:p>
            <a:pPr algn="just" defTabSz="253800">
              <a:lnSpc>
                <a:spcPct val="100000"/>
              </a:lnSpc>
            </a:pPr>
            <a:endParaRPr b="0" lang="en-US" sz="200" spc="-1" strike="noStrike">
              <a:solidFill>
                <a:srgbClr val="000000"/>
              </a:solidFill>
              <a:latin typeface="Arial"/>
            </a:endParaRPr>
          </a:p>
        </p:txBody>
      </p:sp>
      <p:pic>
        <p:nvPicPr>
          <p:cNvPr id="100" name="" descr=""/>
          <p:cNvPicPr/>
          <p:nvPr/>
        </p:nvPicPr>
        <p:blipFill>
          <a:blip r:embed="rId3"/>
          <a:stretch/>
        </p:blipFill>
        <p:spPr>
          <a:xfrm>
            <a:off x="7842240" y="0"/>
            <a:ext cx="1290600" cy="674640"/>
          </a:xfrm>
          <a:prstGeom prst="rect">
            <a:avLst/>
          </a:prstGeom>
          <a:ln w="0">
            <a:noFill/>
          </a:ln>
        </p:spPr>
      </p:pic>
      <p:sp>
        <p:nvSpPr>
          <p:cNvPr id="101" name="Rectangle 1"/>
          <p:cNvSpPr/>
          <p:nvPr/>
        </p:nvSpPr>
        <p:spPr>
          <a:xfrm>
            <a:off x="5836320" y="2349720"/>
            <a:ext cx="3199680" cy="392760"/>
          </a:xfrm>
          <a:prstGeom prst="rect">
            <a:avLst/>
          </a:prstGeom>
          <a:noFill/>
          <a:ln w="0">
            <a:noFill/>
          </a:ln>
        </p:spPr>
        <p:style>
          <a:lnRef idx="0"/>
          <a:fillRef idx="0"/>
          <a:effectRef idx="0"/>
          <a:fontRef idx="minor"/>
        </p:style>
        <p:txBody>
          <a:bodyPr lIns="28080" rIns="28080" tIns="14040" bIns="14040" anchor="t">
            <a:spAutoFit/>
          </a:bodyPr>
          <a:p>
            <a:pPr marL="146160" indent="-146160" algn="just" defTabSz="253800">
              <a:lnSpc>
                <a:spcPct val="100000"/>
              </a:lnSpc>
              <a:buClr>
                <a:srgbClr val="000000"/>
              </a:buClr>
              <a:buFont typeface="Wingdings 3" charset="2"/>
              <a:buChar char=""/>
            </a:pPr>
            <a:r>
              <a:rPr b="0" lang="fr-FR" sz="800" spc="-1" strike="noStrike">
                <a:solidFill>
                  <a:schemeClr val="dk1"/>
                </a:solidFill>
                <a:latin typeface="Arial Narrow"/>
                <a:ea typeface="Noto Sans CJK SC"/>
              </a:rPr>
              <a:t>La derniere étape était d’</a:t>
            </a:r>
            <a:r>
              <a:rPr b="1" lang="fr-FR" sz="800" spc="-1" strike="noStrike">
                <a:solidFill>
                  <a:schemeClr val="dk1"/>
                </a:solidFill>
                <a:latin typeface="Arial Narrow"/>
                <a:ea typeface="Noto Sans CJK SC"/>
              </a:rPr>
              <a:t>implementer le model final</a:t>
            </a:r>
            <a:r>
              <a:rPr b="0" lang="fr-FR" sz="800" spc="-1" strike="noStrike">
                <a:solidFill>
                  <a:schemeClr val="dk1"/>
                </a:solidFill>
                <a:latin typeface="Arial Narrow"/>
                <a:ea typeface="Noto Sans CJK SC"/>
              </a:rPr>
              <a:t> a un compte de broker grace a TradeStation, de travailler avec l’API et de produire une interface en temps réel sur le march</a:t>
            </a:r>
            <a:r>
              <a:rPr b="0" lang="fr-FR" sz="800" spc="-1" strike="noStrike">
                <a:solidFill>
                  <a:schemeClr val="dk1"/>
                </a:solidFill>
                <a:latin typeface="Arial Narrow"/>
              </a:rPr>
              <a:t>é.</a:t>
            </a:r>
            <a:endParaRPr b="0" lang="en-US" sz="800" spc="-1" strike="noStrike">
              <a:solidFill>
                <a:srgbClr val="000000"/>
              </a:solidFill>
              <a:latin typeface="Arial"/>
            </a:endParaRPr>
          </a:p>
        </p:txBody>
      </p:sp>
    </p:spTree>
  </p:cSld>
  <mc:AlternateContent>
    <mc:Choice Requires="p14">
      <p:transition p14:dur="10"/>
    </mc:Choice>
    <mc:Fallback>
      <p:transition/>
    </mc:Fallback>
  </mc:AlternateContent>
</p:sld>
</file>

<file path=ppt/theme/theme1.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1_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Times" pitchFamily="0" charset="1"/>
        <a:ea typeface=""/>
        <a:cs typeface=""/>
      </a:majorFont>
      <a:minorFont>
        <a:latin typeface="Times"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5131</TotalTime>
  <Application>LibreOffice/24.2.7.2$Linux_X86_64 LibreOffice_project/420$Build-2</Application>
  <AppVersion>15.0000</AppVersion>
  <Words>274</Words>
  <Paragraphs>36</Paragraphs>
  <Company>INSA_GE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2012-11-14T17:08:49Z</dcterms:created>
  <dc:creator>Claude Richard</dc:creator>
  <dc:description/>
  <dc:language>en-US</dc:language>
  <cp:lastModifiedBy/>
  <dcterms:modified xsi:type="dcterms:W3CDTF">2026-01-09T12:07:36Z</dcterms:modified>
  <cp:revision>275</cp:revision>
  <dc:subject/>
  <dc:title>Présentation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Affichage à l'écran (16:9)</vt:lpwstr>
  </property>
  <property fmtid="{D5CDD505-2E9C-101B-9397-08002B2CF9AE}" pid="3" name="Slides">
    <vt:i4>1</vt:i4>
  </property>
</Properties>
</file>